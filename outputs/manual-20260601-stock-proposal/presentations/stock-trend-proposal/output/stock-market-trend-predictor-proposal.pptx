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1db1bfd5243ad" /><Relationship Type="http://schemas.openxmlformats.org/officeDocument/2006/relationships/extended-properties" Target="/docProps/app.xml" Id="Rfb4f4231e62c4e29" /><Relationship Type="http://schemas.openxmlformats.org/officeDocument/2006/relationships/officeDocument" Target="/ppt/presentation.xml" Id="R2069808a53f54d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709101bc04737"/>
  </p:sldMasterIdLst>
  <p:notesMasterIdLst>
    <p:notesMasterId xmlns:r="http://schemas.openxmlformats.org/officeDocument/2006/relationships" r:id="R2eec241ae2d648ac"/>
  </p:notesMasterIdLst>
  <p:sldIdLst>
    <p:sldId xmlns:r="http://schemas.openxmlformats.org/officeDocument/2006/relationships" id="256" r:id="Re543609be7b24941"/>
    <p:sldId xmlns:r="http://schemas.openxmlformats.org/officeDocument/2006/relationships" id="257" r:id="Rdf8a6ec8f9bf4942"/>
    <p:sldId xmlns:r="http://schemas.openxmlformats.org/officeDocument/2006/relationships" id="258" r:id="Rba75eb5ee3bd4880"/>
    <p:sldId xmlns:r="http://schemas.openxmlformats.org/officeDocument/2006/relationships" id="259" r:id="R116434a639574164"/>
    <p:sldId xmlns:r="http://schemas.openxmlformats.org/officeDocument/2006/relationships" id="260" r:id="Rfb258471db9d42ff"/>
    <p:sldId xmlns:r="http://schemas.openxmlformats.org/officeDocument/2006/relationships" id="261" r:id="R0ec2c2250d5045e3"/>
    <p:sldId xmlns:r="http://schemas.openxmlformats.org/officeDocument/2006/relationships" id="262" r:id="R4baae0f337944e62"/>
    <p:sldId xmlns:r="http://schemas.openxmlformats.org/officeDocument/2006/relationships" id="263" r:id="R22d6455742be4890"/>
    <p:sldId xmlns:r="http://schemas.openxmlformats.org/officeDocument/2006/relationships" id="264" r:id="Rbf6f6917d9644d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709101bc04737" /><Relationship Type="http://schemas.openxmlformats.org/officeDocument/2006/relationships/theme" Target="/ppt/theme/theme1.xml" Id="R4af728ed8e7749ed" /><Relationship Type="http://schemas.openxmlformats.org/officeDocument/2006/relationships/notesMaster" Target="/ppt/notesMasters/notesMaster1.xml" Id="R2eec241ae2d648ac" /><Relationship Type="http://schemas.openxmlformats.org/officeDocument/2006/relationships/presProps" Target="/ppt/presProps.xml" Id="R880e930618ec4776" /><Relationship Type="http://schemas.openxmlformats.org/officeDocument/2006/relationships/viewProps" Target="/ppt/viewProps.xml" Id="R1cf357ef6e574d10" /><Relationship Type="http://schemas.openxmlformats.org/officeDocument/2006/relationships/tableStyles" Target="/ppt/tableStyles.xml" Id="Rd827a1d4e9ac4701" /><Relationship Type="http://schemas.openxmlformats.org/officeDocument/2006/relationships/slide" Target="/ppt/slides/slide1.xml" Id="Re543609be7b24941" /><Relationship Type="http://schemas.openxmlformats.org/officeDocument/2006/relationships/slide" Target="/ppt/slides/slide2.xml" Id="Rdf8a6ec8f9bf4942" /><Relationship Type="http://schemas.openxmlformats.org/officeDocument/2006/relationships/slide" Target="/ppt/slides/slide3.xml" Id="Rba75eb5ee3bd4880" /><Relationship Type="http://schemas.openxmlformats.org/officeDocument/2006/relationships/slide" Target="/ppt/slides/slide4.xml" Id="R116434a639574164" /><Relationship Type="http://schemas.openxmlformats.org/officeDocument/2006/relationships/slide" Target="/ppt/slides/slide5.xml" Id="Rfb258471db9d42ff" /><Relationship Type="http://schemas.openxmlformats.org/officeDocument/2006/relationships/slide" Target="/ppt/slides/slide6.xml" Id="R0ec2c2250d5045e3" /><Relationship Type="http://schemas.openxmlformats.org/officeDocument/2006/relationships/slide" Target="/ppt/slides/slide7.xml" Id="R4baae0f337944e62" /><Relationship Type="http://schemas.openxmlformats.org/officeDocument/2006/relationships/slide" Target="/ppt/slides/slide8.xml" Id="R22d6455742be4890" /><Relationship Type="http://schemas.openxmlformats.org/officeDocument/2006/relationships/slide" Target="/ppt/slides/slide9.xml" Id="Rbf6f6917d9644d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a391be70ac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4c88176734798" /><Relationship Type="http://schemas.openxmlformats.org/officeDocument/2006/relationships/notesMaster" Target="/ppt/notesMasters/notesMaster1.xml" Id="Rebda4218212844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a9c5a399e84d48" /><Relationship Type="http://schemas.openxmlformats.org/officeDocument/2006/relationships/notesMaster" Target="/ppt/notesMasters/notesMaster1.xml" Id="Rfdbb5857fd7b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17dfdc6e7444a" /><Relationship Type="http://schemas.openxmlformats.org/officeDocument/2006/relationships/notesMaster" Target="/ppt/notesMasters/notesMaster1.xml" Id="R12dee9578d42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eae973c2b7484a" /><Relationship Type="http://schemas.openxmlformats.org/officeDocument/2006/relationships/notesMaster" Target="/ppt/notesMasters/notesMaster1.xml" Id="R674c4d6cbffb4a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24d01a0f043d9" /><Relationship Type="http://schemas.openxmlformats.org/officeDocument/2006/relationships/notesMaster" Target="/ppt/notesMasters/notesMaster1.xml" Id="R067f8ec81fca48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53ef1eeb874909" /><Relationship Type="http://schemas.openxmlformats.org/officeDocument/2006/relationships/notesMaster" Target="/ppt/notesMasters/notesMaster1.xml" Id="Raa95c9cfb46c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60d66cdcc4c25" /><Relationship Type="http://schemas.openxmlformats.org/officeDocument/2006/relationships/notesMaster" Target="/ppt/notesMasters/notesMaster1.xml" Id="Rc613a434c228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158d4923cb40fc" /><Relationship Type="http://schemas.openxmlformats.org/officeDocument/2006/relationships/notesMaster" Target="/ppt/notesMasters/notesMaster1.xml" Id="Rc768c1a4bb7146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790500bc114a95" /><Relationship Type="http://schemas.openxmlformats.org/officeDocument/2006/relationships/notesMaster" Target="/ppt/notesMasters/notesMaster1.xml" Id="R867c584158fb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1b6b0700240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f54b94808564223" /><Relationship Type="http://schemas.openxmlformats.org/officeDocument/2006/relationships/slideLayout" Target="/ppt/slideLayouts/slideLayout2.xml" Id="Ra5ee0d9575e4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e0d9575e4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f90bd65b1499f" /><Relationship Type="http://schemas.openxmlformats.org/officeDocument/2006/relationships/notesSlide" Target="/ppt/notesSlides/notesSlide1.xml" Id="R974a49b4bac9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a6bca461e4d50" /><Relationship Type="http://schemas.openxmlformats.org/officeDocument/2006/relationships/notesSlide" Target="/ppt/notesSlides/notesSlide2.xml" Id="R24783a48cd9b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4a51d1bf54eb2" /><Relationship Type="http://schemas.openxmlformats.org/officeDocument/2006/relationships/notesSlide" Target="/ppt/notesSlides/notesSlide3.xml" Id="R8901815b50f5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d060ac57b4eec" /><Relationship Type="http://schemas.openxmlformats.org/officeDocument/2006/relationships/notesSlide" Target="/ppt/notesSlides/notesSlide4.xml" Id="R6e469231e8ef48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d86bbf0884aa3" /><Relationship Type="http://schemas.openxmlformats.org/officeDocument/2006/relationships/notesSlide" Target="/ppt/notesSlides/notesSlide5.xml" Id="Redeef0e0f3d6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a6a4be70244fd" /><Relationship Type="http://schemas.openxmlformats.org/officeDocument/2006/relationships/notesSlide" Target="/ppt/notesSlides/notesSlide6.xml" Id="Rfa5d82ada8dd44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b61c5008f345a6" /><Relationship Type="http://schemas.openxmlformats.org/officeDocument/2006/relationships/notesSlide" Target="/ppt/notesSlides/notesSlide7.xml" Id="R67bd2738aa59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4804b74764e2a" /><Relationship Type="http://schemas.openxmlformats.org/officeDocument/2006/relationships/notesSlide" Target="/ppt/notesSlides/notesSlide8.xml" Id="R05ba4c1894c1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553f337ee44cb" /><Relationship Type="http://schemas.openxmlformats.org/officeDocument/2006/relationships/notesSlide" Target="/ppt/notesSlides/notesSlide9.xml" Id="R2875173d7c7542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24AA8-5664-4208-8FCE-345881C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B7679-9E4C-4AEF-9965-380B3F6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257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FE513-03C1-4C7C-953A-55D2F43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8C4"/>
                </a:solidFill>
                <a:latin typeface="Aptos"/>
                <a:ea typeface="Aptos"/>
                <a:cs typeface="Aptos"/>
              </a:rPr>
              <a:t>Future Project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727FE-2B17-4F3F-84F4-6E1B095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66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Stock Market Trend Predictor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92314-AE94-45CE-B57D-A541CC9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D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DE5"/>
                </a:solidFill>
                <a:latin typeface="Aptos"/>
                <a:ea typeface="Aptos"/>
                <a:cs typeface="Aptos"/>
              </a:rPr>
              <a:t>A planned full-stack web application for generating simple, transparent stock trend signals and saving a personal watchlist.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25F7E-B4E6-4895-9D1F-6145C1DE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1049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EBFF"/>
          </a:solidFill>
          <a:ln xmlns:a="http://schemas.openxmlformats.org/drawingml/2006/main" w="9525">
            <a:solidFill>
              <a:srgbClr val="1971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28A0B-E3D7-42BF-859C-2720997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ReactJS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B8362-C92A-4302-9A76-96ABE677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12763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FF5E6"/>
          </a:solidFill>
          <a:ln xmlns:a="http://schemas.openxmlformats.org/drawingml/2006/main" w="9525">
            <a:solidFill>
              <a:srgbClr val="2F9E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2BE4-0EEB-4B35-8875-44A42A6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005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Express.js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6EB79-8986-434F-8088-0CFDF7A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1181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08C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70A25-8EE4-47D6-AFB2-9FF10D15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005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5F0B-E57E-49D8-A50A-577782ED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14800"/>
            <a:ext cx="1809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1415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A0365-B57D-4566-97A6-D938AA3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005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Single npm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93D23-64F8-471B-BC52-A7275AE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04900"/>
            <a:ext cx="2743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993B4-3098-4D3C-9BDE-4CEA897F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763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4C002-7A30-4CC6-89A7-5501E2B7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 screens: dashboard, predictor, watchlist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5864B-CADB-49CE-B930-A5876DA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2743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57878-FF3F-4DD8-ADB4-2149138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34C32-78AB-40FE-9525-22F293A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Monolithic npm package for simple local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BF3D3-FF1C-4F9F-AEDF-01173011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2743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078B2-DF0A-4259-8E66-3E0EB4C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95510-7181-4356-BC21-E734948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Signals: momentum, volatility, trend,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01A7E-5F61-4C0E-84F2-5C97F1F6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AA5DE-A86D-4AB3-9F85-C101996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24719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problem">
            <a:extLst xmlns:a="http://schemas.openxmlformats.org/drawingml/2006/main">
              <a:ext uri="{FF2B5EF4-FFF2-40B4-BE49-F238E27FC236}">
                <a16:creationId xmlns:a16="http://schemas.microsoft.com/office/drawing/2014/main" id="{FBCA090A-D71C-4E0F-8C95-B95991C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problem">
            <a:extLst xmlns:a="http://schemas.openxmlformats.org/drawingml/2006/main">
              <a:ext uri="{FF2B5EF4-FFF2-40B4-BE49-F238E27FC236}">
                <a16:creationId xmlns:a16="http://schemas.microsoft.com/office/drawing/2014/main" id="{DB69EC6F-031C-4585-9C9D-8370FB4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89C6B-6D0D-4E9B-97DF-9F32C031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project will turn raw ticker movement into an explainable trend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D3EF9-FA1F-4B75-8F76-2A4284F0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goal is not to guarantee investment returns. The goal is to make market direction easier to study and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56A34-DC80-42B8-A97D-75FEA80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343A6-5FCE-4D5B-9F5A-B6EB472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31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03131"/>
                </a:solidFill>
                <a:latin typeface="Aptos"/>
                <a:ea typeface="Aptos"/>
                <a:cs typeface="Aptos"/>
              </a:rPr>
              <a:t>Current difficulty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4C2D1-6B5B-4BDE-92E7-267BD9C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Stock prices move every day, but beginners often see only numbers without context. They need a simple way to compare recent direction, instability, and possible next movement.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773FB-2231-4680-8121-ABAC6174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9132A-A0D9-44FA-A3C4-C71CB42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E0AEA-D40B-4FE3-8940-F3DFC66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 React web app will accept a ticker symbol, call an Express API, calculate a transparent trend score, show a chart, and save selected symbols to Firebase.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44FD1-7981-4AB8-AD7C-FDF50B2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22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3DD65-9621-4F51-B6AA-3069065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Presentation framing: proposed academic software project, not financial advice.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C0B8B-385D-40DC-8059-7A79CC8B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E39EC-3863-46E0-99A1-0C56366C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81623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user flow">
            <a:extLst xmlns:a="http://schemas.openxmlformats.org/drawingml/2006/main">
              <a:ext uri="{FF2B5EF4-FFF2-40B4-BE49-F238E27FC236}">
                <a16:creationId xmlns:a16="http://schemas.microsoft.com/office/drawing/2014/main" id="{7A1CD555-A0DA-46FA-BF10-CED2CDD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user flow">
            <a:extLst xmlns:a="http://schemas.openxmlformats.org/drawingml/2006/main">
              <a:ext uri="{FF2B5EF4-FFF2-40B4-BE49-F238E27FC236}">
                <a16:creationId xmlns:a16="http://schemas.microsoft.com/office/drawing/2014/main" id="{DE9F9B0F-ED63-4106-9D83-DBCF6B70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A4C8A-1155-4AC3-B4C9-B636C3A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 focused workflow keeps the first version easy to evaluate.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CB375-BE99-4F92-AC91-686B7E9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planned user journey has one clear loop: search, predict, interpret, and save.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84D9F-05DB-4693-B03B-69680B2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09550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EEEE3-6A92-42B2-8B14-58ABA26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76200" cy="1390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7467E-BED6-4EF5-BF9E-0BE5E929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Enter ticker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0A13F-9F23-4A57-9794-2E2BAE51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 submits a stock symbol such as AAPL, MSFT, or TSLA.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9FC45-E422-4777-8284-783B3B0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106C4-C694-467F-BA50-E4CC0273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3852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FB67-E90E-4726-A265-84B99007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209550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D8F2B-B5D8-4631-91E6-5002738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76200" cy="1390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8A691-E031-4973-A57D-A75AF221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Generate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6D638-EF09-42B6-B477-F834B9B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Frontend calls the Express API route for a prediction.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7873C-9429-4469-AA85-D7C14BA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C3B22-24C0-430E-B328-424F756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3852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BF8C6-7632-4DE6-AD7C-A199A18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209550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B7AAA-572E-4779-9ECC-299004CE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76200" cy="1390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8D4D4-D1C8-4AFE-AA04-659515C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Read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069C2-9565-4AFA-B79E-41449DA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displays trend, confidence, projected price, and chart.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A89D2-0FB0-45C4-A4A2-4327AB6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43F4B-6F49-45AC-B77D-FF6C93F2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3852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9FD3A-EF32-42CD-BCC6-ACD38C7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52400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DDD7-F989-48EB-B066-38B756F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76200" cy="1390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6BE69-FB56-4DDA-8AB7-340D654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Save watchlist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3A967-8CA1-4E62-B095-780C22E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114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Selected symbols are stored in Firestore through the backend.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4760D-0668-445B-BCDB-5E4BC89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BC5D0-E9C0-4AB7-A6AD-8AD93917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04581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architecture">
            <a:extLst xmlns:a="http://schemas.openxmlformats.org/drawingml/2006/main">
              <a:ext uri="{FF2B5EF4-FFF2-40B4-BE49-F238E27FC236}">
                <a16:creationId xmlns:a16="http://schemas.microsoft.com/office/drawing/2014/main" id="{27BE0F4E-E26A-41CB-9059-D79981D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architecture">
            <a:extLst xmlns:a="http://schemas.openxmlformats.org/drawingml/2006/main">
              <a:ext uri="{FF2B5EF4-FFF2-40B4-BE49-F238E27FC236}">
                <a16:creationId xmlns:a16="http://schemas.microsoft.com/office/drawing/2014/main" id="{0795F59B-8F20-47CE-BF0E-809AA07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B0886-79D7-4FCC-A6B2-8FB31F31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One npm package will contain both the React interface and the Express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BEB0-1CB2-46BD-9890-8B59EE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monolithic structure is simpler for a student project because setup, scripts, and deployment planning stay in one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723BC-93DB-4F8D-BAC9-8CC7AF6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76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453D2-92F9-4635-89D1-EB33C343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Single root npm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9FF1C-016D-42B0-962A-44DC5F7B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48C93-3B70-482C-95D2-C5C38896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76200" cy="1257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5BB35-0A55-41E1-A7B2-64CA0B41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React + Mantine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B971C-5895-4CED-9F9D-968B73C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Routes: dashboard, predictor, watchlist. Context API keeps app state shared.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F72E1-AE4E-449B-879E-F478A38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195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BA0F9-5788-45C3-BCA4-1DCCB663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58FE7-D15B-4DD6-8E74-8D30EB4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C93E1-29C1-4BB4-BD97-FFEB03F5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76200" cy="1257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A7ABA-A719-419D-BBB8-A0AB73A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7A3CF-3F5B-4C45-812E-188676C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Routes handle prediction requests and watchlist CRUD operations.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B899C-5333-4DAD-B65A-F746036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195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ECF90-FBDB-4FA2-B0EB-7777AAEA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147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A3FBE-6714-422E-B6C0-0046CA48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C201F-9F31-497D-BE90-D84FD8B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76200" cy="1257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98D6D-863B-4E0F-8EC2-2564FD86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Firebase Firestore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D09BB-C912-4576-AD61-DD32231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Database stores saved watchlist items and can support user data later.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204A5-9219-48A1-BD0C-FDEE3A14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Planned local command: npm run dev starts client and server together.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A2FB9-A6E7-465A-AD4F-B04DBB9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5ECDA-F80B-47E7-B49D-DBA93D3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8394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firebase plan">
            <a:extLst xmlns:a="http://schemas.openxmlformats.org/drawingml/2006/main">
              <a:ext uri="{FF2B5EF4-FFF2-40B4-BE49-F238E27FC236}">
                <a16:creationId xmlns:a16="http://schemas.microsoft.com/office/drawing/2014/main" id="{6BCC7EE5-0F7A-469E-AEFD-AB137F8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firebase plan">
            <a:extLst xmlns:a="http://schemas.openxmlformats.org/drawingml/2006/main">
              <a:ext uri="{FF2B5EF4-FFF2-40B4-BE49-F238E27FC236}">
                <a16:creationId xmlns:a16="http://schemas.microsoft.com/office/drawing/2014/main" id="{2165AA5B-2881-40F9-9170-03AF477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FIREBASE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DBD0-36CB-4CB7-8DD0-7C219E7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Firebase will persist watchlist data while private keys remain server-side.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35DA4-3AC5-4958-AC81-14C16912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browser receives only public Firebase web configuration; the backend uses Admin SDK credentials securely.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151DA-5041-42F7-9AB2-31542B2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6670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CBAF-5387-4101-A697-68DC9AB2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76200" cy="1466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4FDC9-9AF2-49DF-8031-91594C63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Browser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62B2-13A6-4B85-94B4-279998C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Uses public VITE_FIREBASE_* values and calls /api routes.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367FA-4BCC-4B98-8CE3-D0275F3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3D757-60E8-4E87-AD9B-9256E3E9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337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108D9-E0C4-412D-A3A8-2D81CFC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6670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2C4F5-8D9A-4705-8DC9-CF58887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76200" cy="1466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0153C-B671-40CC-96D9-090E5296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67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Node/Express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62948-2474-4409-AD30-5A753F2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099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Validates requests and uses Firebase Admin SDK for database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66914-2C86-44DA-B823-181F08E6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F4831-D3F6-4F03-9BE5-DEFF8988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337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86A68-1F13-47E2-A986-0BD5B90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6670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D361C-9E98-43D3-90E9-2FD5BC9C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76200" cy="1466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C2FF0-CA55-47BF-9473-4F0760B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Firestore 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5AB30-DE55-44BC-8170-C9DC84E8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Collection: watchlist. Stores symbol, company name, note, and created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36D38-7A5E-4BE0-A6B9-7C60C97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C2623-7E8A-4077-8920-4D1157E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53025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idea: service account JSON never goes into React code or GitHub. It stays in .env or firebase-service-account.json.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183E6-438A-424C-BB69-B9692C9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E5912-F1C9-4B0B-84E9-5CEB15B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71755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calculation">
            <a:extLst xmlns:a="http://schemas.openxmlformats.org/drawingml/2006/main">
              <a:ext uri="{FF2B5EF4-FFF2-40B4-BE49-F238E27FC236}">
                <a16:creationId xmlns:a16="http://schemas.microsoft.com/office/drawing/2014/main" id="{6CFFE53C-2B51-458C-9EA6-80938890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calculation">
            <a:extLst xmlns:a="http://schemas.openxmlformats.org/drawingml/2006/main">
              <a:ext uri="{FF2B5EF4-FFF2-40B4-BE49-F238E27FC236}">
                <a16:creationId xmlns:a16="http://schemas.microsoft.com/office/drawing/2014/main" id="{609A3EB8-048B-4CA9-9FEF-6C528E9F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C0C25-C2E7-4F90-8433-75431B3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first model will be transparent: momentum adjusted by volatility.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1EC1-FFF9-4F20-B571-53E8F761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 the proposal version, the calculation is intentionally simple so the evaluator can understand every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0AD8A-CFCC-4E8B-A3FD-7C40383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2440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72066-59ED-43DE-9EE3-056BF6F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Formula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09C2-1679-47F8-ADD9-90FD06C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Generate or collect recent prices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Use the last 10 days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Momentum = price change percentage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4. Volatility = average daily movement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5. Score = momentum - volatility penalty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9C833-295B-4F30-B92C-AF7D08D4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472440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B4F1F-1B36-47B7-B018-F864BD0F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Trend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F670D-5D18-45C3-8E30-AE7597B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Score &gt; 1.2  = Bullish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Score &lt; -1.2 = Bearish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Otherwise    = Sideways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D43DC-9BA9-4C5A-AB45-B17E92E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601"/>
            <a:ext cx="594360" cy="399799"/>
          </a:xfrm>
          <a:prstGeom xmlns:a="http://schemas.openxmlformats.org/drawingml/2006/main" prst="roundRect">
            <a:avLst>
              <a:gd name="adj" fmla="val 953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2D21F-FDD9-4BF6-978F-BB6F4634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1267C-4AEE-4679-A4A5-A570AD7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4654717"/>
            <a:ext cx="594360" cy="450683"/>
          </a:xfrm>
          <a:prstGeom xmlns:a="http://schemas.openxmlformats.org/drawingml/2006/main" prst="roundRect">
            <a:avLst>
              <a:gd name="adj" fmla="val 8454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17D2F-4FE6-44EA-A892-4876D171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2197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DF88B-C190-4931-A885-BCCDFF55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520" y="4683793"/>
            <a:ext cx="594360" cy="421607"/>
          </a:xfrm>
          <a:prstGeom xmlns:a="http://schemas.openxmlformats.org/drawingml/2006/main" prst="roundRect">
            <a:avLst>
              <a:gd name="adj" fmla="val 9037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3355F-80E4-4670-BDCA-97A27AD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52197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725DF-738F-4B6D-81A9-EB30535B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4589295"/>
            <a:ext cx="594360" cy="516105"/>
          </a:xfrm>
          <a:prstGeom xmlns:a="http://schemas.openxmlformats.org/drawingml/2006/main" prst="roundRect">
            <a:avLst>
              <a:gd name="adj" fmla="val 7382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DEA25-3F32-49B3-98FB-365811A9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52197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D8859-5BF4-4A6A-A6FA-DA229FFD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552950"/>
            <a:ext cx="59436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AD0F1-F9AD-4599-86A6-75726C6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52197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4AF49-112E-46B1-9771-9E478F60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31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03131"/>
                </a:solidFill>
                <a:latin typeface="Aptos"/>
                <a:ea typeface="Aptos"/>
                <a:cs typeface="Aptos"/>
              </a:rPr>
              <a:t>Presentation note: this is a demo model, not a production financial prediction engine.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FA27E-8C1F-4BE3-84E2-BBB09F3D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92AA7-09C5-469D-B549-E22A7D98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7450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product screens">
            <a:extLst xmlns:a="http://schemas.openxmlformats.org/drawingml/2006/main">
              <a:ext uri="{FF2B5EF4-FFF2-40B4-BE49-F238E27FC236}">
                <a16:creationId xmlns:a16="http://schemas.microsoft.com/office/drawing/2014/main" id="{4C03BC69-6E11-4138-89A1-6C8D63C5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product screens">
            <a:extLst xmlns:a="http://schemas.openxmlformats.org/drawingml/2006/main">
              <a:ext uri="{FF2B5EF4-FFF2-40B4-BE49-F238E27FC236}">
                <a16:creationId xmlns:a16="http://schemas.microsoft.com/office/drawing/2014/main" id="{C7C9A492-3F63-4D1F-BEC2-DBCC40F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PRODUCT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ACF22-7E09-4A58-A8A2-A884053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interface will be organized around three screens instead of many scattered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A38F5-3F71-40FB-992F-880E1E2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keeps the first version usable, testable, and presentation-ready.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21FE4-8E39-4BF4-A074-43889FCB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971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2102F-E82B-419C-92DF-BECC0D3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4C2B4-D091-4CBB-8424-2FF004A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24003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5639-6A35-4A25-A3A0-DBB4AA12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76200" cy="1200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0FE2B-7134-4FB3-B8E4-378EBD9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0D6C5-18CD-4342-8324-0757489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Latest prediction, watchlist count, and quick entry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A6C80-1CDD-4839-97AB-086B8A72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71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BF2"/>
          </a:solidFill>
          <a:ln xmlns:a="http://schemas.openxmlformats.org/drawingml/2006/main" w="9525">
            <a:solidFill>
              <a:srgbClr val="B8E6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4B822-169F-47D8-AF18-0428B92B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Predictor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736DE-F867-4F86-A8A3-B54A0D0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24003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39D30-B608-4D45-B92D-7502FFD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76200" cy="1200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FD9A5-F1F5-4B7D-B627-CF1D239A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CF611-2D05-4A1C-AAF1-0284C37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Ticker form, prediction card, confidence score, and chart.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4F5D9-C8EA-443F-BBAB-F0F657A9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971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DC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2F077-4B5F-4145-8871-B7DB4CB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Watchlist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A1C57-E0FD-4FAC-89CD-73A38EA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24003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EE878-5B66-49F5-96C6-CC48F9BC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76200" cy="1200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DDF03-764A-4EA3-978F-4A559E1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E0FCB-4BE4-46EA-9A50-C0D54355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Add, view, annotate, and delete saved stock symbols.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15578-7848-4756-81A2-D06A0E52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CFE31-02FC-446F-B91E-8D84854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0084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-roadmap">
            <a:extLst xmlns:a="http://schemas.openxmlformats.org/drawingml/2006/main">
              <a:ext uri="{FF2B5EF4-FFF2-40B4-BE49-F238E27FC236}">
                <a16:creationId xmlns:a16="http://schemas.microsoft.com/office/drawing/2014/main" id="{5BC6D4AD-F818-443A-A2FC-8CF0D81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667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-roadmap">
            <a:extLst xmlns:a="http://schemas.openxmlformats.org/drawingml/2006/main">
              <a:ext uri="{FF2B5EF4-FFF2-40B4-BE49-F238E27FC236}">
                <a16:creationId xmlns:a16="http://schemas.microsoft.com/office/drawing/2014/main" id="{A0FA31D8-3D0D-4458-9434-46C0C7E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E3507-5973-44FF-9506-8158BE00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project can be delivered in four practical implementation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47C7F-74FE-4C0E-80AD-647659EF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phase produces something demonstrable, reducing risk before the final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13065-05A2-4682-A02A-4C45F65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47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DCE2E-6018-4062-9F72-07EC71F8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47900" cy="95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DFD52-4737-45F6-B9D3-FABFCAD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71C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971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73333-E324-4080-90C2-CCC9232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DBE41-73F4-4779-B5FE-DD08170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 Vite React app, Express server, routing, Mantine theme.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0B56C-9E6F-4A9B-AE59-7A0E0207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2247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7CB24-8EDB-470F-8DD9-90DD06F8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2247900" cy="95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160B-51DD-4A49-8C49-E8DEA5B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909C4-82C7-4C73-95CC-FD7F310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48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Core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F1F00-D02C-416D-99FA-040B49DF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Add prediction endpoint, formula service, and chart-ready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9BC0F-8707-4420-84B5-B5596F0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247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60A81-2B12-4D08-A9B9-6A813A7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247900" cy="95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5484E-0B88-4DCB-81F0-E8766952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14BDF-3DC8-4187-8B4A-8F12CAD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76952-4FE0-4BAB-9C5A-104A6D5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Configure Firestore, service account, watchlist create/read/delete.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8B874-9693-461D-B74F-DA45ABC2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247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9B908-4C0B-43B3-AF1B-593F535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247900" cy="95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8180B-2E46-4808-85CE-476F5DD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0313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0313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D0B74-B37F-4FA4-9DF8-133AC74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48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Polish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EE2CB-941D-4760-90AF-7A99F129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Improve UI states, validation, presentation script, and final testing.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8CA7C-000F-401C-A385-95CAABC0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ABC9A-A214-4C86-9621-4C87173B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388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Final deliverable: running full-stack demo, source code, project explanation, and testable Firebase connection.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E7BC97-75B3-4CB2-B6A1-FCBF8B78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335A3-833E-40ED-AD72-8FE1D446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73019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5AD8D2-A69F-4747-A0CE-DED2CEF9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21B4F-96E5-4853-AA64-7FE6AC7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8C4"/>
                </a:solidFill>
                <a:latin typeface="Aptos"/>
                <a:ea typeface="Aptos"/>
                <a:cs typeface="Aptos"/>
              </a:rPr>
              <a:t>Expected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0B00F-D257-4BF8-A415-3D1F5EF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clear, runnable prototype that explains stock trend signals instead of hiding the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55759-BD22-4D7A-BC9B-6B9B1083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7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E1A0C-8E36-4CAF-9943-710FBBB0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B222D-FF3C-4DCA-AFE8-A4F2B7FA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D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DE5"/>
                </a:solidFill>
                <a:latin typeface="Aptos"/>
                <a:ea typeface="Aptos"/>
                <a:cs typeface="Aptos"/>
              </a:rPr>
              <a:t>Simulated or sample prices with transparent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34DF2-CC59-4976-A2D8-E453433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4CF78-5CA6-4201-9F7E-55B96FA6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AFBED-00FC-474F-9CFE-71DA3E3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D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DE5"/>
                </a:solidFill>
                <a:latin typeface="Aptos"/>
                <a:ea typeface="Aptos"/>
                <a:cs typeface="Aptos"/>
              </a:rPr>
              <a:t>Real market API integration and stored historical prices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DF67-46B0-4501-8325-C97CD5F4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09891-DDEE-4B85-835D-034EFD1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EB64B-E120-4279-AFD8-CF8C3924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D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DE5"/>
                </a:solidFill>
                <a:latin typeface="Aptos"/>
                <a:ea typeface="Aptos"/>
                <a:cs typeface="Aptos"/>
              </a:rPr>
              <a:t>User authentication and personalized watchlists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CD0CA-D85D-44CB-B857-586A001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19D8D-11E0-4F68-891D-9A4A2F0C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5AB2D-28D1-4CB1-80C5-029A822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D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DE5"/>
                </a:solidFill>
                <a:latin typeface="Aptos"/>
                <a:ea typeface="Aptos"/>
                <a:cs typeface="Aptos"/>
              </a:rPr>
              <a:t>Advanced indicators or machine learning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C475F-E8A4-45D8-8589-998065C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38469-1A7B-4A3D-80F2-F89F379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F40B3-6CD9-46BB-88CC-D20BA6D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2748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2026-06-01T16:01:33.8620000Z</dcterms:created>
  <dcterms:modified xsi:type="dcterms:W3CDTF">2026-06-01T16:01:33.8620000Z</dcterms:modified>
</coreProperties>
</file>